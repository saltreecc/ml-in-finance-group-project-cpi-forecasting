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6" r:id="rId11"/>
    <p:sldId id="267" r:id="rId12"/>
    <p:sldId id="263" r:id="rId13"/>
    <p:sldId id="265" r:id="rId14"/>
    <p:sldId id="264" r:id="rId15"/>
    <p:sldId id="268" r:id="rId16"/>
    <p:sldId id="26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简单介绍课题</a:t>
            </a:r>
            <a:endParaRPr lang="zh-CN" altLang="en-US"/>
          </a:p>
          <a:p>
            <a:r>
              <a:rPr lang="zh-CN" altLang="en-US"/>
              <a:t>说明核心目标：用混频数据预测中国</a:t>
            </a:r>
            <a:r>
              <a:rPr lang="en-US" altLang="zh-CN"/>
              <a:t> CPI</a:t>
            </a:r>
            <a:r>
              <a:rPr lang="zh-CN" altLang="en-US"/>
              <a:t>，并比较不同模型表现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take correlation heatmap </a:t>
            </a:r>
            <a:r>
              <a:rPr lang="en-US" altLang="zh-CN"/>
              <a:t>for instance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这里可以用流程图，然后每个框下面放对应</a:t>
            </a:r>
            <a:r>
              <a:rPr lang="zh-CN" altLang="en-US"/>
              <a:t>注释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•Random Forest is the most consistent with the real CPI trend and can better track the medium-term fluctuation trend of CPI</a:t>
            </a:r>
            <a:endParaRPr lang="en-US" altLang="zh-CN"/>
          </a:p>
          <a:p>
            <a:r>
              <a:rPr lang="en-US" altLang="zh-CN"/>
              <a:t>•Dual-Encoder is too smooth, has insufficient ability to capture short-term large fluctuations in CPI, and has obvious lag</a:t>
            </a:r>
            <a:endParaRPr lang="en-US" altLang="zh-CN"/>
          </a:p>
          <a:p>
            <a:r>
              <a:rPr lang="en-US" altLang="zh-CN"/>
              <a:t>•PCA_OLS fluctuates violently and completely deviates from the real value, with no practical predictive value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1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image" Target="../media/image2.png"/><Relationship Id="rId1" Type="http://schemas.openxmlformats.org/officeDocument/2006/relationships/tags" Target="../tags/tag9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Comparative Study on Forecasting China’s CPI Using Mixed-Frequency Data and Machine Learning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Course name: ECO6130</a:t>
            </a:r>
            <a:endParaRPr lang="en-US" altLang="zh-CN"/>
          </a:p>
          <a:p>
            <a:r>
              <a:rPr lang="en-US" altLang="zh-CN"/>
              <a:t>Group members</a:t>
            </a:r>
            <a:r>
              <a:rPr lang="zh-CN" altLang="en-US"/>
              <a:t>：刘怡然，韩心怡，卓欣宜，宋英竹，</a:t>
            </a:r>
            <a:r>
              <a:rPr lang="zh-CN" altLang="en-US"/>
              <a:t>蔡曼莎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Why CPI Forecasting Matters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US" altLang="zh-CN"/>
          </a:p>
          <a:p>
            <a:r>
              <a:rPr lang="en-US" altLang="zh-CN"/>
              <a:t>CPI is a key indicator of inflation and macroeconomic conditions</a:t>
            </a:r>
            <a:endParaRPr lang="en-US" altLang="zh-CN"/>
          </a:p>
          <a:p>
            <a:r>
              <a:rPr lang="en-US" altLang="zh-CN"/>
              <a:t>Accurate forecasting helps monetary policy, financial decisions, and risk management</a:t>
            </a:r>
            <a:endParaRPr lang="en-US" altLang="zh-CN"/>
          </a:p>
          <a:p>
            <a:r>
              <a:rPr lang="en-US" altLang="zh-CN"/>
              <a:t>Traditional models rely mainly on monthly data and may react slowly to turning points</a:t>
            </a:r>
            <a:endParaRPr lang="en-US" altLang="zh-CN"/>
          </a:p>
          <a:p>
            <a:r>
              <a:rPr lang="en-US" altLang="zh-CN"/>
              <a:t>Monthly data are lagged and may miss turning points within the month</a:t>
            </a:r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r>
              <a:rPr lang="en-US" altLang="zh-CN" b="1"/>
              <a:t>so we introduce high-frequency alternative data to improve timeliness.</a:t>
            </a:r>
            <a:endParaRPr lang="en-US" altLang="zh-CN" b="1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Research Question and Overall Framework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367155" y="4560570"/>
            <a:ext cx="9787255" cy="1460500"/>
          </a:xfrm>
          <a:ln>
            <a:solidFill>
              <a:schemeClr val="tx1"/>
            </a:solidFill>
          </a:ln>
        </p:spPr>
        <p:txBody>
          <a:bodyPr>
            <a:noAutofit/>
          </a:bodyPr>
          <a:p>
            <a:r>
              <a:rPr lang="en-US" altLang="zh-CN" sz="1600"/>
              <a:t>Main question: </a:t>
            </a:r>
            <a:endParaRPr lang="en-US" altLang="zh-CN" sz="1600"/>
          </a:p>
          <a:p>
            <a:r>
              <a:rPr lang="en-US" altLang="zh-CN" sz="1600"/>
              <a:t>Can mixed-frequency data improve CPI forecasting?</a:t>
            </a:r>
            <a:endParaRPr lang="en-US" altLang="zh-CN" sz="1600"/>
          </a:p>
          <a:p>
            <a:r>
              <a:rPr lang="en-US" altLang="zh-CN" sz="1600"/>
              <a:t>Do high-frequency indicators provide additional predictive value?</a:t>
            </a:r>
            <a:endParaRPr lang="en-US" altLang="zh-CN" sz="1600"/>
          </a:p>
          <a:p>
            <a:endParaRPr lang="en-US" altLang="zh-CN" sz="1600"/>
          </a:p>
        </p:txBody>
      </p:sp>
      <p:sp>
        <p:nvSpPr>
          <p:cNvPr id="4" name="文本框 3"/>
          <p:cNvSpPr txBox="1"/>
          <p:nvPr/>
        </p:nvSpPr>
        <p:spPr>
          <a:xfrm>
            <a:off x="1367155" y="3317240"/>
            <a:ext cx="828738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3 models: Random Forest/ PCA + OLS/ Dual-Encoder Feature Fusion Network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81735" y="1993265"/>
            <a:ext cx="9455785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workflow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 altLang="zh-CN"/>
              <a:t>Raw data </a:t>
            </a:r>
            <a:r>
              <a:rPr lang="en-US" altLang="en-US"/>
              <a:t>→</a:t>
            </a:r>
            <a:r>
              <a:rPr lang="en-US" altLang="zh-CN"/>
              <a:t> preprocessing &amp; alignment </a:t>
            </a:r>
            <a:r>
              <a:rPr lang="en-US" altLang="en-US"/>
              <a:t>→</a:t>
            </a:r>
            <a:r>
              <a:rPr lang="en-US" altLang="zh-CN"/>
              <a:t> feature engineering </a:t>
            </a:r>
            <a:r>
              <a:rPr lang="en-US" altLang="en-US"/>
              <a:t>→</a:t>
            </a:r>
            <a:r>
              <a:rPr lang="en-US" altLang="zh-CN"/>
              <a:t> model comparison </a:t>
            </a:r>
            <a:r>
              <a:rPr lang="en-US" altLang="en-US"/>
              <a:t>→</a:t>
            </a:r>
            <a:r>
              <a:rPr lang="en-US" altLang="zh-CN"/>
              <a:t> forecast &amp; conclusions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Data and Variable Selection</a:t>
            </a:r>
            <a:endParaRPr lang="en-US" altLang="zh-CN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/>
                        <a:t>High-frequency variables</a:t>
                      </a:r>
                      <a:endParaRPr lang="en-US" altLang="zh-CN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Low-frequency variables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/>
                        <a:t>OMO net injection, cement price index, commercial housing transaction area, existing-home listing price index, pork wholesale price, Nanhua industrial goods index, subway ridership</a:t>
                      </a:r>
                      <a:endParaRPr lang="en-US" altLang="zh-CN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social financing stock growth, electricity generation growth, export growth, import growth, PPI intermediate goods, PPI consumer goods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97535" y="3321685"/>
            <a:ext cx="11182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High-frequency variables→short-term changes   low-frequency variables </a:t>
            </a:r>
            <a:r>
              <a:rPr lang="en-US" altLang="zh-CN"/>
              <a:t>→macro fundamental aspects.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Preprocessing and Mixed-Frequency Alignment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020445" y="1751330"/>
            <a:ext cx="1055687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/>
              <a:t>Raw Data → Frequency Conversion → Missing Value Handling → Target Alignment</a:t>
            </a:r>
            <a:endParaRPr lang="en-US" altLang="zh-CN" sz="2000" b="1"/>
          </a:p>
        </p:txBody>
      </p:sp>
      <p:sp>
        <p:nvSpPr>
          <p:cNvPr id="5" name="文本框 4"/>
          <p:cNvSpPr txBox="1"/>
          <p:nvPr/>
        </p:nvSpPr>
        <p:spPr>
          <a:xfrm>
            <a:off x="421640" y="2313305"/>
            <a:ext cx="272605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1. Daily / weekly / monthly variables </a:t>
            </a:r>
            <a:endParaRPr lang="en-US" altLang="zh-CN" sz="1600"/>
          </a:p>
          <a:p>
            <a:r>
              <a:rPr lang="en-US" altLang="zh-CN" sz="1600"/>
              <a:t> 2. Mixed release frequencies</a:t>
            </a:r>
            <a:endParaRPr lang="en-US" altLang="zh-CN" sz="1600"/>
          </a:p>
        </p:txBody>
      </p:sp>
      <p:sp>
        <p:nvSpPr>
          <p:cNvPr id="6" name="文本框 5"/>
          <p:cNvSpPr txBox="1"/>
          <p:nvPr/>
        </p:nvSpPr>
        <p:spPr>
          <a:xfrm>
            <a:off x="3024505" y="2313305"/>
            <a:ext cx="254063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/>
              <a:t>1. Split each month into 3 ten-day periods </a:t>
            </a:r>
            <a:endParaRPr lang="en-US" altLang="zh-CN" sz="1600"/>
          </a:p>
          <a:p>
            <a:r>
              <a:rPr lang="en-US" altLang="zh-CN" sz="1600"/>
              <a:t> 2. Average valid observations</a:t>
            </a:r>
            <a:endParaRPr lang="en-US" altLang="zh-CN" sz="1600"/>
          </a:p>
        </p:txBody>
      </p:sp>
      <p:sp>
        <p:nvSpPr>
          <p:cNvPr id="7" name="文本框 6"/>
          <p:cNvSpPr txBox="1"/>
          <p:nvPr/>
        </p:nvSpPr>
        <p:spPr>
          <a:xfrm>
            <a:off x="5654040" y="2431415"/>
            <a:ext cx="348615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1. Fill missing OMO values with </a:t>
            </a:r>
            <a:r>
              <a:rPr lang="en-US" altLang="zh-CN" sz="1600" b="1"/>
              <a:t>0</a:t>
            </a:r>
            <a:r>
              <a:rPr lang="en-US" altLang="zh-CN" sz="1600"/>
              <a:t> </a:t>
            </a:r>
            <a:endParaRPr lang="en-US" altLang="zh-CN" sz="1600"/>
          </a:p>
          <a:p>
            <a:r>
              <a:rPr lang="en-US" altLang="zh-CN" sz="1600"/>
              <a:t>2. Based on economic logic</a:t>
            </a:r>
            <a:endParaRPr lang="en-US" altLang="zh-CN" sz="1600"/>
          </a:p>
        </p:txBody>
      </p:sp>
      <p:sp>
        <p:nvSpPr>
          <p:cNvPr id="8" name="文本框 7"/>
          <p:cNvSpPr txBox="1"/>
          <p:nvPr/>
        </p:nvSpPr>
        <p:spPr>
          <a:xfrm>
            <a:off x="8854440" y="2431415"/>
            <a:ext cx="3035300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1. Exclude Jan–Feb as direct targets </a:t>
            </a:r>
            <a:endParaRPr lang="en-US" altLang="zh-CN" sz="1600"/>
          </a:p>
          <a:p>
            <a:r>
              <a:rPr lang="en-US" altLang="zh-CN" sz="1600"/>
              <a:t>2. Use Jan–Mar high-frequency averages to forecast March CPI</a:t>
            </a:r>
            <a:endParaRPr lang="en-US" altLang="zh-CN" sz="1600"/>
          </a:p>
        </p:txBody>
      </p:sp>
      <p:sp>
        <p:nvSpPr>
          <p:cNvPr id="9" name="文本框 8"/>
          <p:cNvSpPr txBox="1"/>
          <p:nvPr/>
        </p:nvSpPr>
        <p:spPr>
          <a:xfrm>
            <a:off x="1430655" y="4996180"/>
            <a:ext cx="85985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Output: A unified mixed-frequency dataset for model training</a:t>
            </a:r>
            <a:endParaRPr lang="en-US" altLang="zh-CN" sz="1600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Exploratory Data Analysis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497320" y="1494155"/>
            <a:ext cx="5080000" cy="40424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Autofit/>
          </a:bodyPr>
          <a:p>
            <a:r>
              <a:rPr lang="en-US" altLang="zh-CN" sz="1600"/>
              <a:t>figure</a:t>
            </a:r>
            <a:r>
              <a:rPr lang="zh-CN" altLang="en-US" sz="1600"/>
              <a:t>：</a:t>
            </a:r>
            <a:r>
              <a:rPr lang="en-US" altLang="zh-CN" sz="1600"/>
              <a:t> correlation heatmap</a:t>
            </a:r>
            <a:endParaRPr lang="en-US" altLang="zh-CN" sz="1600"/>
          </a:p>
        </p:txBody>
      </p:sp>
      <p:sp>
        <p:nvSpPr>
          <p:cNvPr id="5" name="文本框 4"/>
          <p:cNvSpPr txBox="1"/>
          <p:nvPr/>
        </p:nvSpPr>
        <p:spPr>
          <a:xfrm>
            <a:off x="820420" y="2073275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PPI for consumer goods shows the strongest positive correlation with CPI</a:t>
            </a:r>
            <a:endParaRPr lang="en-US" altLang="zh-CN" sz="1600"/>
          </a:p>
          <a:p>
            <a:r>
              <a:rPr lang="en-US" altLang="zh-CN" sz="1600"/>
              <a:t>Some high-frequency variables also correlate with CPI, suggesting incremental predictive value</a:t>
            </a:r>
            <a:endParaRPr lang="en-US" altLang="zh-CN" sz="1600"/>
          </a:p>
          <a:p>
            <a:r>
              <a:rPr lang="en-US" altLang="zh-CN" sz="1600"/>
              <a:t>Correlations among high-frequency variables indicate multicollinearity, which motivates PCA</a:t>
            </a:r>
            <a:endParaRPr lang="en-US" altLang="zh-CN" sz="1600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Model Overview</a:t>
            </a:r>
            <a:endParaRPr lang="en-US" altLang="zh-CN"/>
          </a:p>
        </p:txBody>
      </p:sp>
      <p:graphicFrame>
        <p:nvGraphicFramePr>
          <p:cNvPr id="5" name="内容占位符 4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6330"/>
                <a:gridCol w="3656330"/>
                <a:gridCol w="3656330"/>
              </a:tblGrid>
              <a:tr h="381000">
                <a:tc>
                  <a:txBody>
                    <a:bodyPr/>
                    <a:p>
                      <a:r>
                        <a:rPr lang="en-US" altLang="zh-CN" sz="1600"/>
                        <a:t>Model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Why chosen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Main idea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600"/>
                        <a:t>PCA + OLS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linear benchmark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reduce multicollinearity, then regress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600"/>
                        <a:t>Random Forest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robust under small samples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nonlinear tree ensemble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600"/>
                        <a:t>Dual-Encoder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designed for mixed-frequency sequences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separate encoding + feature fusion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08330" y="3677920"/>
            <a:ext cx="725805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We compare a linear benchmark, a nonlinear ensemble model, and a mixed-frequency deep learning model.</a:t>
            </a:r>
            <a:endParaRPr lang="en-US" altLang="zh-CN" sz="160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Traditional Models: PCA+OLS and Random Forest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08330" y="1858962"/>
            <a:ext cx="5080000" cy="114871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PCA + OLS</a:t>
            </a:r>
            <a:endParaRPr lang="en-US" altLang="zh-CN" sz="2200" b="1"/>
          </a:p>
          <a:p>
            <a:r>
              <a:rPr lang="en-US" altLang="zh-CN" sz="1600"/>
              <a:t>Aligned dataset → Monthly aggregation → Standardization → PCA → OLS prediction</a:t>
            </a:r>
            <a:endParaRPr lang="en-US" altLang="zh-CN" sz="1600"/>
          </a:p>
        </p:txBody>
      </p:sp>
      <p:sp>
        <p:nvSpPr>
          <p:cNvPr id="5" name="文本框 4"/>
          <p:cNvSpPr txBox="1"/>
          <p:nvPr/>
        </p:nvSpPr>
        <p:spPr>
          <a:xfrm>
            <a:off x="6497320" y="1858962"/>
            <a:ext cx="5080000" cy="114871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Random Forest</a:t>
            </a:r>
            <a:endParaRPr lang="en-US" altLang="zh-CN" sz="2200" b="1"/>
          </a:p>
          <a:p>
            <a:r>
              <a:rPr lang="en-US" altLang="zh-CN" sz="1600"/>
              <a:t>210-dimensional feature vector → Multiple decision trees → Averaged prediction</a:t>
            </a:r>
            <a:endParaRPr lang="en-US" altLang="zh-CN" sz="1600"/>
          </a:p>
        </p:txBody>
      </p:sp>
      <p:sp>
        <p:nvSpPr>
          <p:cNvPr id="6" name="文本框 5"/>
          <p:cNvSpPr txBox="1"/>
          <p:nvPr/>
        </p:nvSpPr>
        <p:spPr>
          <a:xfrm>
            <a:off x="608330" y="3157537"/>
            <a:ext cx="5080000" cy="279971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Aligned dataset:</a:t>
            </a:r>
            <a:endParaRPr lang="en-US" altLang="zh-CN" sz="1600"/>
          </a:p>
          <a:p>
            <a:r>
              <a:rPr lang="en-US" altLang="zh-CN" sz="1600"/>
              <a:t> mixed-frequency features after preprocessing </a:t>
            </a:r>
            <a:endParaRPr lang="en-US" altLang="zh-CN" sz="1600"/>
          </a:p>
          <a:p>
            <a:r>
              <a:rPr lang="en-US" altLang="zh-CN" sz="1600"/>
              <a:t>Monthly aggregation:</a:t>
            </a:r>
            <a:endParaRPr lang="en-US" altLang="zh-CN" sz="1600"/>
          </a:p>
          <a:p>
            <a:r>
              <a:rPr lang="en-US" altLang="zh-CN" sz="1600"/>
              <a:t> high-frequency variables compressed to monthly level </a:t>
            </a:r>
            <a:endParaRPr lang="en-US" altLang="zh-CN" sz="1600"/>
          </a:p>
          <a:p>
            <a:r>
              <a:rPr lang="en-US" altLang="zh-CN" sz="1600"/>
              <a:t>Standardization:</a:t>
            </a:r>
            <a:endParaRPr lang="en-US" altLang="zh-CN" sz="1600"/>
          </a:p>
          <a:p>
            <a:r>
              <a:rPr lang="en-US" altLang="zh-CN" sz="1600"/>
              <a:t> required before PCA </a:t>
            </a:r>
            <a:endParaRPr lang="en-US" altLang="zh-CN" sz="1600"/>
          </a:p>
          <a:p>
            <a:r>
              <a:rPr lang="en-US" altLang="zh-CN" sz="1600"/>
              <a:t>PCA:</a:t>
            </a:r>
            <a:endParaRPr lang="en-US" altLang="zh-CN" sz="1600"/>
          </a:p>
          <a:p>
            <a:r>
              <a:rPr lang="en-US" altLang="zh-CN" sz="1600"/>
              <a:t> reduce multicollinearity and noise </a:t>
            </a:r>
            <a:endParaRPr lang="en-US" altLang="zh-CN" sz="1600"/>
          </a:p>
          <a:p>
            <a:r>
              <a:rPr lang="en-US" altLang="zh-CN" sz="1600"/>
              <a:t>OLS:</a:t>
            </a:r>
            <a:endParaRPr lang="en-US" altLang="zh-CN" sz="1600"/>
          </a:p>
          <a:p>
            <a:r>
              <a:rPr lang="en-US" altLang="zh-CN" sz="1600"/>
              <a:t> linear benchmark for CPI forecasting</a:t>
            </a:r>
            <a:endParaRPr lang="en-US" altLang="zh-CN" sz="1600"/>
          </a:p>
        </p:txBody>
      </p:sp>
      <p:sp>
        <p:nvSpPr>
          <p:cNvPr id="7" name="文本框 6"/>
          <p:cNvSpPr txBox="1"/>
          <p:nvPr/>
        </p:nvSpPr>
        <p:spPr>
          <a:xfrm>
            <a:off x="6623685" y="342931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captures nonlinear relationships </a:t>
            </a:r>
            <a:endParaRPr lang="en-US" altLang="zh-CN" sz="1600"/>
          </a:p>
          <a:p>
            <a:r>
              <a:rPr lang="en-US" altLang="zh-CN" sz="1600"/>
              <a:t> robust under small-sample settings </a:t>
            </a:r>
            <a:endParaRPr lang="en-US" altLang="zh-CN" sz="1600"/>
          </a:p>
          <a:p>
            <a:r>
              <a:rPr lang="en-US" altLang="zh-CN" sz="1600"/>
              <a:t> provides feature importance</a:t>
            </a:r>
            <a:endParaRPr lang="en-US" altLang="zh-CN" sz="1600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Dual-Encoder Architecture</a:t>
            </a: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515745"/>
            <a:ext cx="10968990" cy="38265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65835" y="5703570"/>
            <a:ext cx="883856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The dual-encoder structure preserves frequency differences and integrates both short-term and macroeconomic information for CPI forecasting.</a:t>
            </a:r>
            <a:endParaRPr lang="en-US" altLang="zh-CN" sz="1600"/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Model Performance Comparison</a:t>
            </a:r>
            <a:endParaRPr lang="en-US" altLang="zh-CN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962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25"/>
                <a:gridCol w="2193925"/>
                <a:gridCol w="2193925"/>
                <a:gridCol w="2193925"/>
                <a:gridCol w="2193925"/>
              </a:tblGrid>
              <a:tr h="381000">
                <a:tc>
                  <a:txBody>
                    <a:bodyPr/>
                    <a:p>
                      <a:r>
                        <a:rPr lang="en-US" altLang="zh-CN" sz="1600"/>
                        <a:t>Model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MSE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MAE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RMSE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R²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600"/>
                        <a:t>Random Forest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0.6545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0.5407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0.6508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0.1872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600"/>
                        <a:t>Dual-Encoder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0.9525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0.7527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0.8805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-0.7337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600"/>
                        <a:t>PCA+OLS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2.5931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1.3997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1.6042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-9.9784</a:t>
                      </a:r>
                      <a:endParaRPr lang="en-US" altLang="zh-CN" sz="16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63575" y="3561080"/>
            <a:ext cx="81146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Random Forest: best overall, only positive average R</a:t>
            </a:r>
            <a:r>
              <a:rPr lang="en-US" altLang="en-US" b="1"/>
              <a:t>²</a:t>
            </a:r>
            <a:endParaRPr lang="en-US" altLang="en-US" b="1"/>
          </a:p>
          <a:p>
            <a:r>
              <a:rPr lang="en-US" altLang="zh-CN"/>
              <a:t>Dual-Encoder: better than PCA+OLS, but still overfits</a:t>
            </a:r>
            <a:endParaRPr lang="en-US" altLang="zh-CN"/>
          </a:p>
          <a:p>
            <a:r>
              <a:rPr lang="en-US" altLang="zh-CN"/>
              <a:t>PCA+OLS: worst performance, fails to capture nonlinear CPI dynamics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Prediction Curve Comparison</a:t>
            </a:r>
            <a:endParaRPr lang="en-US" altLang="zh-CN"/>
          </a:p>
        </p:txBody>
      </p:sp>
      <p:pic>
        <p:nvPicPr>
          <p:cNvPr id="822551692" name="图片 2" descr="No description has been provided for this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8950" y="1313815"/>
            <a:ext cx="8726805" cy="43383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559050" y="5859145"/>
            <a:ext cx="7350125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en-US" altLang="zh-CN" sz="1600" b="1">
                <a:latin typeface="Times New Roman" panose="02020603050405020304"/>
                <a:ea typeface="宋体" panose="02010600030101010101" pitchFamily="2" charset="-122"/>
              </a:rPr>
              <a:t>Figure: Line Chart of Multi-Model Fitting Comparison for CPI Forecasting</a:t>
            </a:r>
            <a:endParaRPr lang="en-US" altLang="zh-CN" sz="1600" b="1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Feature Importance and Economic Logic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139690" cy="4759325"/>
          </a:xfrm>
        </p:spPr>
        <p:txBody>
          <a:bodyPr/>
          <a:p>
            <a:r>
              <a:rPr lang="en-US" altLang="zh-CN"/>
              <a:t>CPI’s own lag terms dominate prediction </a:t>
            </a:r>
            <a:r>
              <a:rPr lang="en-US" altLang="en-US"/>
              <a:t>→</a:t>
            </a:r>
            <a:r>
              <a:rPr lang="en-US" altLang="zh-CN"/>
              <a:t> strong inflation inertia</a:t>
            </a:r>
            <a:endParaRPr lang="en-US" altLang="zh-CN"/>
          </a:p>
          <a:p>
            <a:r>
              <a:rPr lang="en-US" altLang="zh-CN"/>
              <a:t>PPI variables rank highly </a:t>
            </a:r>
            <a:r>
              <a:rPr lang="en-US" altLang="en-US"/>
              <a:t>→</a:t>
            </a:r>
            <a:r>
              <a:rPr lang="en-US" altLang="zh-CN"/>
              <a:t> upstream-to-downstream price transmission</a:t>
            </a:r>
            <a:endParaRPr lang="en-US" altLang="zh-CN"/>
          </a:p>
          <a:p>
            <a:r>
              <a:rPr lang="en-US" altLang="zh-CN"/>
              <a:t>Pork price enters top features </a:t>
            </a:r>
            <a:r>
              <a:rPr lang="en-US" altLang="en-US"/>
              <a:t>→</a:t>
            </a:r>
            <a:r>
              <a:rPr lang="en-US" altLang="zh-CN"/>
              <a:t> evidence of the pig cycle effect</a:t>
            </a:r>
            <a:endParaRPr lang="en-US" altLang="zh-CN"/>
          </a:p>
          <a:p>
            <a:r>
              <a:rPr lang="en-US" altLang="zh-CN"/>
              <a:t>High-frequency variables add information, but their contribution is still secondary to core macro variables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Interpretation and Conclusion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b="1"/>
              <a:t>Interpretation</a:t>
            </a:r>
            <a:endParaRPr lang="en-US" altLang="zh-CN" b="1"/>
          </a:p>
          <a:p>
            <a:pPr marL="0" indent="0">
              <a:buNone/>
            </a:pPr>
            <a:r>
              <a:rPr lang="en-US" altLang="zh-CN"/>
              <a:t>1. CPI lag terms dominate prediction, indicating strong inflation inertia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2. PPI-related variables rank highly, suggesting upstream-to-downstream price transmission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3. Pork price remains informative, reflecting the pig cycle effect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4. High-frequency variables provide additional information, but their contribution is secondary to core macro indicators</a:t>
            </a:r>
            <a:endParaRPr lang="en-US" altLang="zh-CN"/>
          </a:p>
          <a:p>
            <a:pPr marL="0" indent="0">
              <a:buNone/>
            </a:pPr>
            <a:r>
              <a:rPr lang="en-US" altLang="zh-CN" b="1"/>
              <a:t>Conclusion</a:t>
            </a:r>
            <a:endParaRPr lang="en-US" altLang="zh-CN" b="1"/>
          </a:p>
          <a:p>
            <a:pPr marL="0" indent="0">
              <a:buNone/>
            </a:pPr>
            <a:r>
              <a:rPr lang="en-US" altLang="zh-CN"/>
              <a:t>1. Random Forest performs best overall in this study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2. Mixed-frequency data improve timeliness and provide incremental predictive value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3. Complex deep learning models show potential, but overfitting remains a challenge under small-sample conditions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Future Work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Expand the feature space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Incorporate text-based information such as policy reports, financial news, and sentiment indicators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2. Improve model robustness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Apply stronger regularization, optimize hyperparameters, or explore transfer learning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3. Enhance the fusion mechanism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Introduce attention-based or dynamic weighting methods to better capture different macroeconomic cycles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5050</Words>
  <Application>WPS 演示</Application>
  <PresentationFormat>宽屏</PresentationFormat>
  <Paragraphs>198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蔡曼莎</cp:lastModifiedBy>
  <cp:revision>158</cp:revision>
  <dcterms:created xsi:type="dcterms:W3CDTF">2019-06-19T02:08:00Z</dcterms:created>
  <dcterms:modified xsi:type="dcterms:W3CDTF">2026-04-16T16:29:03Z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5E87A00688C54E12BA73582D3A66E1CB_11</vt:lpwstr>
  </property>
</Properties>
</file>
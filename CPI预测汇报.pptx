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3" r:id="rId3"/>
    <p:sldId id="334" r:id="rId5"/>
    <p:sldId id="341" r:id="rId6"/>
    <p:sldId id="340" r:id="rId7"/>
    <p:sldId id="344" r:id="rId8"/>
    <p:sldId id="343" r:id="rId9"/>
    <p:sldId id="345" r:id="rId10"/>
    <p:sldId id="346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安源" initials="安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4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各位老师，各位专家大家好，我来报告下异常价格监控模型这一课题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3810" y="1825855"/>
            <a:ext cx="12204065" cy="2863215"/>
            <a:chOff x="-6" y="3047"/>
            <a:chExt cx="19219" cy="4076"/>
          </a:xfrm>
        </p:grpSpPr>
        <p:sp>
          <p:nvSpPr>
            <p:cNvPr id="5" name="矩形 4"/>
            <p:cNvSpPr/>
            <p:nvPr/>
          </p:nvSpPr>
          <p:spPr>
            <a:xfrm>
              <a:off x="-6" y="3047"/>
              <a:ext cx="19219" cy="4076"/>
            </a:xfrm>
            <a:prstGeom prst="rect">
              <a:avLst/>
            </a:prstGeom>
            <a:solidFill>
              <a:srgbClr val="071B8C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990" y="3670"/>
              <a:ext cx="12905" cy="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600" b="1" spc="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CPI</a:t>
              </a: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预测任务</a:t>
              </a:r>
              <a:r>
                <a:rPr lang="zh-CN" altLang="en-US" sz="3600" b="1" spc="20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汇报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spc="30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刘怡然</a:t>
              </a:r>
              <a:endParaRPr lang="zh-CN" altLang="en-US" sz="2000" b="1" spc="3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9200" y="3832225"/>
            <a:ext cx="447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0650" y="127000"/>
            <a:ext cx="131318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spc="2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数据选择</a:t>
            </a:r>
            <a:endParaRPr lang="zh-CN" altLang="en-US" sz="2000" b="1" spc="200" dirty="0">
              <a:solidFill>
                <a:srgbClr val="002060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-12065" y="588645"/>
            <a:ext cx="12240260" cy="97790"/>
            <a:chOff x="-19" y="927"/>
            <a:chExt cx="19276" cy="154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-19" y="989"/>
              <a:ext cx="192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-12" y="927"/>
              <a:ext cx="5669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20650" y="745091"/>
            <a:ext cx="9732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选择思路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0649" y="1145201"/>
            <a:ext cx="10621629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资金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生产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地产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消费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进出口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PPI&amp;CPI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时间自相关性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方面考虑可能影响到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CPI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的数据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同时考虑到数据发布的稳定性，相较最初设想去除了一些数据，最终选定数据如下：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4707" y="1987252"/>
          <a:ext cx="6404001" cy="353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272"/>
                <a:gridCol w="3427079"/>
                <a:gridCol w="1467650"/>
              </a:tblGrid>
              <a:tr h="332644">
                <a:tc>
                  <a:txBody>
                    <a:bodyPr/>
                    <a:lstStyle/>
                    <a:p>
                      <a:r>
                        <a:rPr lang="zh-CN" altLang="en-US" dirty="0"/>
                        <a:t>种类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数据频率</a:t>
                      </a:r>
                      <a:endParaRPr lang="zh-CN" altLang="en-US" dirty="0"/>
                    </a:p>
                  </a:txBody>
                  <a:tcPr/>
                </a:tc>
              </a:tr>
              <a:tr h="375681">
                <a:tc rowSpan="2">
                  <a:txBody>
                    <a:bodyPr/>
                    <a:lstStyle/>
                    <a:p>
                      <a:r>
                        <a:rPr lang="zh-CN" altLang="en-US" dirty="0"/>
                        <a:t>资金供需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货币净投放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周度</a:t>
                      </a:r>
                      <a:endParaRPr lang="zh-CN" altLang="en-US" dirty="0"/>
                    </a:p>
                  </a:txBody>
                  <a:tcPr/>
                </a:tc>
              </a:tr>
              <a:tr h="375681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社融规模同比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月度</a:t>
                      </a:r>
                      <a:endParaRPr lang="zh-CN" altLang="en-US" dirty="0"/>
                    </a:p>
                  </a:txBody>
                  <a:tcPr/>
                </a:tc>
              </a:tr>
              <a:tr h="375681">
                <a:tc>
                  <a:txBody>
                    <a:bodyPr/>
                    <a:lstStyle/>
                    <a:p>
                      <a:r>
                        <a:rPr lang="zh-CN" altLang="en-US" dirty="0"/>
                        <a:t>生产数据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中国发电量同比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月度</a:t>
                      </a:r>
                      <a:endParaRPr lang="zh-CN" altLang="en-US" dirty="0"/>
                    </a:p>
                  </a:txBody>
                  <a:tcPr/>
                </a:tc>
              </a:tr>
              <a:tr h="375681">
                <a:tc rowSpan="3">
                  <a:txBody>
                    <a:bodyPr/>
                    <a:lstStyle/>
                    <a:p>
                      <a:r>
                        <a:rPr lang="zh-CN" altLang="en-US" dirty="0"/>
                        <a:t>地产数据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水泥价格指数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日度</a:t>
                      </a:r>
                      <a:endParaRPr lang="zh-CN" altLang="en-US" dirty="0"/>
                    </a:p>
                  </a:txBody>
                  <a:tcPr/>
                </a:tc>
              </a:tr>
              <a:tr h="648435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r>
                        <a:rPr lang="zh-CN" altLang="en-US" dirty="0"/>
                        <a:t>大中城市商品房成交面积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日度</a:t>
                      </a:r>
                      <a:endParaRPr lang="zh-CN" altLang="en-US" dirty="0"/>
                    </a:p>
                  </a:txBody>
                  <a:tcPr/>
                </a:tc>
              </a:tr>
              <a:tr h="648435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二手房出售挂牌价指数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周度</a:t>
                      </a:r>
                      <a:endParaRPr lang="zh-CN" altLang="en-US" dirty="0"/>
                    </a:p>
                  </a:txBody>
                  <a:tcPr/>
                </a:tc>
              </a:tr>
              <a:tr h="37053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消费数据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北上广深地铁客运量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日度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651141" y="1987252"/>
          <a:ext cx="545502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052"/>
                <a:gridCol w="2382428"/>
                <a:gridCol w="1528543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种类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数据频率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CN" altLang="en-US" dirty="0"/>
                        <a:t>进出口数据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出口金额同比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月度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进口金额同比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月度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altLang="zh-CN" dirty="0"/>
                        <a:t>CPI&amp;PPI</a:t>
                      </a:r>
                      <a:r>
                        <a:rPr lang="zh-CN" altLang="en-US" dirty="0"/>
                        <a:t>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PPI</a:t>
                      </a:r>
                      <a:r>
                        <a:rPr lang="zh-CN" altLang="en-US" dirty="0"/>
                        <a:t>：生产资料同比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月度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PPI</a:t>
                      </a:r>
                      <a:r>
                        <a:rPr lang="zh-CN" altLang="en-US" dirty="0"/>
                        <a:t>：生活资料同比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月度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猪肉批发价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日度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南华工业品指数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日度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CPI</a:t>
                      </a:r>
                      <a:r>
                        <a:rPr lang="zh-CN" altLang="en-US" dirty="0"/>
                        <a:t>：同比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月度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0650" y="127000"/>
            <a:ext cx="1595309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spc="2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数据预处理</a:t>
            </a:r>
            <a:endParaRPr lang="zh-CN" altLang="en-US" sz="2000" b="1" spc="200" dirty="0">
              <a:solidFill>
                <a:srgbClr val="002060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-12065" y="588645"/>
            <a:ext cx="12240260" cy="97790"/>
            <a:chOff x="-19" y="927"/>
            <a:chExt cx="19276" cy="154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-19" y="989"/>
              <a:ext cx="192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-12" y="927"/>
              <a:ext cx="5669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20650" y="745091"/>
            <a:ext cx="9732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细节问题及思路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0649" y="1145201"/>
            <a:ext cx="10621629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CPI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每年从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3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月才开始发布：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	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）忽略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月的月度数据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	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）将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3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月的日频及周频数据取平均，记为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3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月数据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	3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）预测时，不预测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CPI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、央行每周货币净投放若缺失，则默认为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0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650" y="3142849"/>
            <a:ext cx="9732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旬数据处理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649" y="3542959"/>
            <a:ext cx="10621629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、每月 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1-10 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号作为上旬，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11-20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号作为中旬，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21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号及之后作为下旬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、对同一旬中、同一特征的所有有效数据取均值（不含缺失值）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20649" y="4564884"/>
            <a:ext cx="9732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数据标准化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0648" y="4964994"/>
            <a:ext cx="1062162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对所有数据进行滚动窗口 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z-score 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标准化，避免未来信息泄露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0650" y="127000"/>
            <a:ext cx="131318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spc="2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模型设计</a:t>
            </a:r>
            <a:endParaRPr lang="zh-CN" altLang="en-US" sz="2000" b="1" spc="200" dirty="0">
              <a:solidFill>
                <a:srgbClr val="002060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-12065" y="588645"/>
            <a:ext cx="12240260" cy="97790"/>
            <a:chOff x="-19" y="927"/>
            <a:chExt cx="19276" cy="154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-19" y="989"/>
              <a:ext cx="192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-12" y="927"/>
              <a:ext cx="5669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20650" y="1195825"/>
            <a:ext cx="11203339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在日频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&amp;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周频数据即使在处理之后也天生带有更多的时序信息，仍需与月频数据分开处理。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采用双编码器结构，先将处理后的上中下旬数据变换到 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Hidden Size 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维度向量；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将月频数据与经一个简单投影层后，与处理好的日频、周频信息向量拼接；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（注意拼接时，由于最后一个月的月频数据是未知的，故需要错一个月来堆叠数据）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最后，将拼接好的历史信息送入另一神经网络，得到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预测值。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0650" y="736917"/>
            <a:ext cx="4159357" cy="581660"/>
            <a:chOff x="1580070" y="4771040"/>
            <a:chExt cx="8740140" cy="638175"/>
          </a:xfrm>
        </p:grpSpPr>
        <p:sp>
          <p:nvSpPr>
            <p:cNvPr id="31" name="圆角矩形 86"/>
            <p:cNvSpPr/>
            <p:nvPr>
              <p:custDataLst>
                <p:tags r:id="rId1"/>
              </p:custDataLst>
            </p:nvPr>
          </p:nvSpPr>
          <p:spPr>
            <a:xfrm>
              <a:off x="1580070" y="4816760"/>
              <a:ext cx="8740140" cy="592455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矩形 85"/>
            <p:cNvSpPr/>
            <p:nvPr>
              <p:custDataLst>
                <p:tags r:id="rId2"/>
              </p:custDataLst>
            </p:nvPr>
          </p:nvSpPr>
          <p:spPr>
            <a:xfrm>
              <a:off x="1580070" y="4771040"/>
              <a:ext cx="8606676" cy="50349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双编码器结构</a:t>
              </a:r>
              <a:endParaRPr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60" y="3072121"/>
            <a:ext cx="10488785" cy="3658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0650" y="127000"/>
            <a:ext cx="131318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spc="2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模型设计</a:t>
            </a:r>
            <a:endParaRPr lang="zh-CN" altLang="en-US" sz="2000" b="1" spc="200" dirty="0">
              <a:solidFill>
                <a:srgbClr val="002060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-12065" y="588645"/>
            <a:ext cx="12240260" cy="97790"/>
            <a:chOff x="-19" y="927"/>
            <a:chExt cx="19276" cy="154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-19" y="989"/>
              <a:ext cx="192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-12" y="927"/>
              <a:ext cx="5669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20650" y="1195825"/>
            <a:ext cx="11203339" cy="4708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模型具体设计如下：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Hidden Size: 16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历史窗口长度：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15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个月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总历史数据：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2017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3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—2025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3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月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Optimizer: </a:t>
            </a:r>
            <a:r>
              <a:rPr lang="en-US" altLang="zh-CN" sz="2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AdamW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Criterion: </a:t>
            </a:r>
            <a:r>
              <a:rPr lang="en-US" altLang="zh-CN" sz="2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HuberLoss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训练参数：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Dropout: 0.2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Batch Size: 16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Learning Rate: 1e-3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	Weight Decay: 1e-4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训练集：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2019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12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CPI -- 2021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4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测试集：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2021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5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-- 2022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7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0650" y="736917"/>
            <a:ext cx="4159357" cy="581660"/>
            <a:chOff x="1580070" y="4771040"/>
            <a:chExt cx="8740140" cy="638175"/>
          </a:xfrm>
        </p:grpSpPr>
        <p:sp>
          <p:nvSpPr>
            <p:cNvPr id="31" name="圆角矩形 86"/>
            <p:cNvSpPr/>
            <p:nvPr>
              <p:custDataLst>
                <p:tags r:id="rId1"/>
              </p:custDataLst>
            </p:nvPr>
          </p:nvSpPr>
          <p:spPr>
            <a:xfrm>
              <a:off x="1580070" y="4816760"/>
              <a:ext cx="8740140" cy="592455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矩形 85"/>
            <p:cNvSpPr/>
            <p:nvPr>
              <p:custDataLst>
                <p:tags r:id="rId2"/>
              </p:custDataLst>
            </p:nvPr>
          </p:nvSpPr>
          <p:spPr>
            <a:xfrm>
              <a:off x="1580070" y="4771040"/>
              <a:ext cx="8606676" cy="50349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具体设计</a:t>
              </a:r>
              <a:endParaRPr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0650" y="127000"/>
            <a:ext cx="131318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spc="2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模型效果</a:t>
            </a:r>
            <a:endParaRPr lang="zh-CN" altLang="en-US" sz="2000" b="1" spc="200" dirty="0">
              <a:solidFill>
                <a:srgbClr val="002060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-12065" y="588645"/>
            <a:ext cx="12240260" cy="97790"/>
            <a:chOff x="-19" y="927"/>
            <a:chExt cx="19276" cy="154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-19" y="989"/>
              <a:ext cx="192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-12" y="927"/>
              <a:ext cx="5669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20650" y="736917"/>
            <a:ext cx="4159357" cy="581660"/>
            <a:chOff x="1580070" y="4771040"/>
            <a:chExt cx="8740140" cy="638175"/>
          </a:xfrm>
        </p:grpSpPr>
        <p:sp>
          <p:nvSpPr>
            <p:cNvPr id="31" name="圆角矩形 86"/>
            <p:cNvSpPr/>
            <p:nvPr>
              <p:custDataLst>
                <p:tags r:id="rId1"/>
              </p:custDataLst>
            </p:nvPr>
          </p:nvSpPr>
          <p:spPr>
            <a:xfrm>
              <a:off x="1580070" y="4816760"/>
              <a:ext cx="8740140" cy="592455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矩形 85"/>
            <p:cNvSpPr/>
            <p:nvPr>
              <p:custDataLst>
                <p:tags r:id="rId2"/>
              </p:custDataLst>
            </p:nvPr>
          </p:nvSpPr>
          <p:spPr>
            <a:xfrm>
              <a:off x="1580070" y="4771040"/>
              <a:ext cx="8606676" cy="50349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</a:t>
              </a:r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loss</a:t>
              </a:r>
              <a:endParaRPr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205" y="1195825"/>
            <a:ext cx="8062901" cy="51775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0650" y="127000"/>
            <a:ext cx="131318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spc="2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模型效果</a:t>
            </a:r>
            <a:endParaRPr lang="zh-CN" altLang="en-US" sz="2000" b="1" spc="200" dirty="0">
              <a:solidFill>
                <a:srgbClr val="002060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-12065" y="588645"/>
            <a:ext cx="12240260" cy="97790"/>
            <a:chOff x="-19" y="927"/>
            <a:chExt cx="19276" cy="154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-19" y="989"/>
              <a:ext cx="192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-12" y="927"/>
              <a:ext cx="5669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20650" y="736917"/>
            <a:ext cx="4159357" cy="581660"/>
            <a:chOff x="1580070" y="4771040"/>
            <a:chExt cx="8740140" cy="638175"/>
          </a:xfrm>
        </p:grpSpPr>
        <p:sp>
          <p:nvSpPr>
            <p:cNvPr id="31" name="圆角矩形 86"/>
            <p:cNvSpPr/>
            <p:nvPr>
              <p:custDataLst>
                <p:tags r:id="rId1"/>
              </p:custDataLst>
            </p:nvPr>
          </p:nvSpPr>
          <p:spPr>
            <a:xfrm>
              <a:off x="1580070" y="4816760"/>
              <a:ext cx="8740140" cy="592455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矩形 85"/>
            <p:cNvSpPr/>
            <p:nvPr>
              <p:custDataLst>
                <p:tags r:id="rId2"/>
              </p:custDataLst>
            </p:nvPr>
          </p:nvSpPr>
          <p:spPr>
            <a:xfrm>
              <a:off x="1580070" y="4771040"/>
              <a:ext cx="8606676" cy="50349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实际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CPI vs </a:t>
              </a: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预测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CPI</a:t>
              </a:r>
              <a:endParaRPr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9" y="2338615"/>
            <a:ext cx="5856960" cy="370756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0649" y="1209676"/>
            <a:ext cx="117270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除去训练集时间段，在验证集和样本外数据上，模型整体预测效果尚可；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模型能够捕捉到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变动的大趋势，且在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整体变动较为平缓时准确度较高，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但想要精准预测局部变化还是较为困难。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403" y="2483382"/>
            <a:ext cx="6214391" cy="34138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0650" y="127000"/>
            <a:ext cx="131318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 spc="200" dirty="0">
                <a:solidFill>
                  <a:srgbClr val="00206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后续</a:t>
            </a:r>
            <a:r>
              <a:rPr lang="zh-CN" altLang="en-US" sz="2000" b="1" spc="2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工作</a:t>
            </a:r>
            <a:endParaRPr lang="zh-CN" altLang="en-US" sz="2000" b="1" spc="200" dirty="0">
              <a:solidFill>
                <a:srgbClr val="002060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-12065" y="588645"/>
            <a:ext cx="12240260" cy="97790"/>
            <a:chOff x="-19" y="927"/>
            <a:chExt cx="19276" cy="154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-19" y="989"/>
              <a:ext cx="192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-12" y="927"/>
              <a:ext cx="5669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圆角矩形 86"/>
          <p:cNvSpPr/>
          <p:nvPr>
            <p:custDataLst>
              <p:tags r:id="rId1"/>
            </p:custDataLst>
          </p:nvPr>
        </p:nvSpPr>
        <p:spPr>
          <a:xfrm>
            <a:off x="120650" y="778588"/>
            <a:ext cx="4159357" cy="539989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650" y="863916"/>
            <a:ext cx="11727079" cy="376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后续可能有意义的工作如下：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、</a:t>
            </a:r>
            <a:r>
              <a:rPr lang="zh-CN" altLang="en-US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精细化数据处理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：对不同种的特征，结合其自身特点采取不同的处理方式（缺失值补充、标准化等）。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、</a:t>
            </a:r>
            <a:r>
              <a:rPr lang="zh-CN" altLang="en-US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特征选择与特征工程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：在本次研究的基础上尝试优化特征选择，包括增加特征和选取真正重要的特征等等，同时进行特征工程，增强模型表现。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3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、</a:t>
            </a:r>
            <a:r>
              <a:rPr lang="zh-CN" altLang="en-US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模型架构优化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。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4</a:t>
            </a:r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、</a:t>
            </a:r>
            <a:r>
              <a:rPr lang="zh-CN" altLang="en-US" sz="18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数据高效利用</a:t>
            </a:r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：宏观指标预测任务数据量相对较少，本次研究将每月分为上中下三旬，且需要标准化启动数据，造成了一定程度的浪费，后续可针对高频数据设计更合适的处理方式，以期提高样本量，同时提升模型对短期</a:t>
            </a:r>
            <a:r>
              <a:rPr lang="en-US" altLang="zh-CN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sym typeface="+mn-ea"/>
              </a:rPr>
              <a:t>变动的预测能力。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5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、</a:t>
            </a:r>
            <a:r>
              <a:rPr lang="zh-CN" altLang="en-US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参数调优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：测试不同的参数组合，让模型接收的信息更加符合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CPI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规律（例如：历史数据窗口长度）。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2*l_h_f*1_4_1"/>
  <p:tag name="KSO_WM_TEMPLATE_INDEX" val="19882022"/>
  <p:tag name="KSO_WM_TAG_VERSION" val="2.0"/>
  <p:tag name="KSO_WM_DIAGRAM_GROUP_CODE" val="l1-1"/>
</p:tagLst>
</file>

<file path=ppt/tags/tag2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2*l_h_f*1_4_1"/>
  <p:tag name="KSO_WM_TEMPLATE_INDEX" val="19882022"/>
  <p:tag name="KSO_WM_TAG_VERSION" val="2.0"/>
  <p:tag name="KSO_WM_DIAGRAM_GROUP_CODE" val="l1-1"/>
</p:tagLst>
</file>

<file path=ppt/tags/tag3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2*l_h_f*1_4_1"/>
  <p:tag name="KSO_WM_TEMPLATE_INDEX" val="19882022"/>
  <p:tag name="KSO_WM_TAG_VERSION" val="2.0"/>
  <p:tag name="KSO_WM_DIAGRAM_GROUP_CODE" val="l1-1"/>
</p:tagLst>
</file>

<file path=ppt/tags/tag4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2*l_h_f*1_4_1"/>
  <p:tag name="KSO_WM_TEMPLATE_INDEX" val="19882022"/>
  <p:tag name="KSO_WM_TAG_VERSION" val="2.0"/>
  <p:tag name="KSO_WM_DIAGRAM_GROUP_CODE" val="l1-1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COMMONDATA" val="eyJoZGlkIjoiOTY0NjY0MGUyOWE3YzI3ZDc5NzY1Zjc3OTY0ZWZjOW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WPS 演示</Application>
  <PresentationFormat>宽屏</PresentationFormat>
  <Paragraphs>178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楷体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微信用户</cp:lastModifiedBy>
  <cp:revision>423</cp:revision>
  <dcterms:created xsi:type="dcterms:W3CDTF">2023-08-09T12:44:00Z</dcterms:created>
  <dcterms:modified xsi:type="dcterms:W3CDTF">2026-04-14T01:46:37Z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2052-12.1.0.25225</vt:lpwstr>
  </property>
</Properties>
</file>